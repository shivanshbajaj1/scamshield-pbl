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921328"/>
            <a:ext cx="2495550" cy="1822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7802" y="3133522"/>
            <a:ext cx="22763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 h="0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609954"/>
            <a:ext cx="4474845" cy="6642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450" spc="60"/>
              <a:t>PROJECT-</a:t>
            </a:r>
            <a:r>
              <a:rPr dirty="0" sz="2450" spc="65"/>
              <a:t>BASED</a:t>
            </a:r>
            <a:r>
              <a:rPr dirty="0" sz="2450" spc="-345"/>
              <a:t> </a:t>
            </a:r>
            <a:r>
              <a:rPr dirty="0" sz="2450" spc="-10"/>
              <a:t>LEARNING</a:t>
            </a:r>
            <a:endParaRPr sz="2450"/>
          </a:p>
          <a:p>
            <a:pPr algn="ctr" marL="635">
              <a:lnSpc>
                <a:spcPct val="100000"/>
              </a:lnSpc>
              <a:spcBef>
                <a:spcPts val="20"/>
              </a:spcBef>
            </a:pPr>
            <a:r>
              <a:rPr dirty="0" sz="1700" b="0">
                <a:solidFill>
                  <a:srgbClr val="000000"/>
                </a:solidFill>
                <a:latin typeface="Trebuchet MS"/>
                <a:cs typeface="Trebuchet MS"/>
              </a:rPr>
              <a:t>PHASE-I</a:t>
            </a:r>
            <a:r>
              <a:rPr dirty="0" sz="17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000000"/>
                </a:solidFill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1737" y="1502369"/>
            <a:ext cx="3556635" cy="1570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ScamShield:</a:t>
            </a:r>
            <a:r>
              <a:rPr dirty="0" sz="1400" spc="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595959"/>
                </a:solidFill>
                <a:latin typeface="Tahoma"/>
                <a:cs typeface="Tahoma"/>
              </a:rPr>
              <a:t>Explainable</a:t>
            </a:r>
            <a:r>
              <a:rPr dirty="0" sz="1400" spc="-50" b="1">
                <a:solidFill>
                  <a:srgbClr val="595959"/>
                </a:solidFill>
                <a:latin typeface="Tahoma"/>
                <a:cs typeface="Tahoma"/>
              </a:rPr>
              <a:t> Multimodal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AI</a:t>
            </a:r>
            <a:r>
              <a:rPr dirty="0" sz="1400" spc="-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endParaRPr sz="1400">
              <a:latin typeface="Tahoma"/>
              <a:cs typeface="Tahoma"/>
            </a:endParaRPr>
          </a:p>
          <a:p>
            <a:pPr algn="ctr" marL="128905" marR="121285">
              <a:lnSpc>
                <a:spcPts val="1350"/>
              </a:lnSpc>
              <a:spcBef>
                <a:spcPts val="430"/>
              </a:spcBef>
            </a:pPr>
            <a:r>
              <a:rPr dirty="0" sz="1400" spc="-85" b="1">
                <a:solidFill>
                  <a:srgbClr val="595959"/>
                </a:solidFill>
                <a:latin typeface="Tahoma"/>
                <a:cs typeface="Tahoma"/>
              </a:rPr>
              <a:t>Intelligent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Scam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95" b="1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595959"/>
                </a:solidFill>
                <a:latin typeface="Tahoma"/>
                <a:cs typeface="Tahoma"/>
              </a:rPr>
              <a:t>Phishing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595959"/>
                </a:solidFill>
                <a:latin typeface="Tahoma"/>
                <a:cs typeface="Tahoma"/>
              </a:rPr>
              <a:t>Detection </a:t>
            </a:r>
            <a:r>
              <a:rPr dirty="0" sz="1400" spc="-70" b="1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595959"/>
                </a:solidFill>
                <a:latin typeface="Tahoma"/>
                <a:cs typeface="Tahoma"/>
              </a:rPr>
              <a:t>Reducing</a:t>
            </a:r>
            <a:r>
              <a:rPr dirty="0" sz="1400" spc="-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Cyber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5" b="1">
                <a:solidFill>
                  <a:srgbClr val="595959"/>
                </a:solidFill>
                <a:latin typeface="Tahoma"/>
                <a:cs typeface="Tahoma"/>
              </a:rPr>
              <a:t>Crime</a:t>
            </a:r>
            <a:r>
              <a:rPr dirty="0" sz="1400" spc="-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95959"/>
                </a:solidFill>
                <a:latin typeface="Tahoma"/>
                <a:cs typeface="Tahoma"/>
              </a:rPr>
              <a:t>Risks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dirty="0" sz="1100" spc="-3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dirty="0" sz="1100" spc="2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dirty="0" sz="1100" spc="2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3768"/>
                </a:solidFill>
                <a:latin typeface="Tahoma"/>
                <a:cs typeface="Tahoma"/>
              </a:rPr>
              <a:t>DSCPP-</a:t>
            </a:r>
            <a:r>
              <a:rPr dirty="0" sz="1100" spc="-35">
                <a:solidFill>
                  <a:srgbClr val="133768"/>
                </a:solidFill>
                <a:latin typeface="Tahoma"/>
                <a:cs typeface="Tahoma"/>
              </a:rPr>
              <a:t>III-</a:t>
            </a:r>
            <a:r>
              <a:rPr dirty="0" sz="1100" spc="-50">
                <a:solidFill>
                  <a:srgbClr val="133768"/>
                </a:solidFill>
                <a:latin typeface="Tahoma"/>
                <a:cs typeface="Tahoma"/>
              </a:rPr>
              <a:t>2026-</a:t>
            </a:r>
            <a:r>
              <a:rPr dirty="0" sz="1100" spc="-20">
                <a:solidFill>
                  <a:srgbClr val="133768"/>
                </a:solidFill>
                <a:latin typeface="Tahoma"/>
                <a:cs typeface="Tahoma"/>
              </a:rPr>
              <a:t>T122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100" spc="-65" b="1">
                <a:latin typeface="Tahoma"/>
                <a:cs typeface="Tahoma"/>
              </a:rPr>
              <a:t>Department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of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spc="-60" b="1">
                <a:latin typeface="Tahoma"/>
                <a:cs typeface="Tahoma"/>
              </a:rPr>
              <a:t>Computer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5" b="1">
                <a:latin typeface="Tahoma"/>
                <a:cs typeface="Tahoma"/>
              </a:rPr>
              <a:t>Science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&amp;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latin typeface="Tahoma"/>
                <a:cs typeface="Tahoma"/>
              </a:rPr>
              <a:t>Graphic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Era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(Deemed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University), </a:t>
            </a:r>
            <a:r>
              <a:rPr dirty="0" sz="1100" spc="-1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800" spc="-10">
                <a:latin typeface="Arial"/>
                <a:cs typeface="Arial"/>
              </a:rPr>
              <a:t>Academic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Session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2026–</a:t>
            </a:r>
            <a:r>
              <a:rPr dirty="0" sz="800" spc="-25"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Team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5"/>
              <a:t> </a:t>
            </a:r>
            <a:r>
              <a:rPr dirty="0" spc="-20"/>
              <a:t>Mentor</a:t>
            </a:r>
            <a:r>
              <a:rPr dirty="0" spc="20"/>
              <a:t> </a:t>
            </a:r>
            <a:r>
              <a:rPr dirty="0" spc="-45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224531"/>
            <a:ext cx="1129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Team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Information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20685"/>
            <a:ext cx="2520950" cy="802640"/>
            <a:chOff x="309193" y="1420685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20685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64969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1459482"/>
            <a:ext cx="65151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5" b="1">
                <a:latin typeface="Tahoma"/>
                <a:cs typeface="Tahoma"/>
              </a:rPr>
              <a:t>Team</a:t>
            </a:r>
            <a:r>
              <a:rPr dirty="0" sz="1100" spc="-30" b="1">
                <a:latin typeface="Tahoma"/>
                <a:cs typeface="Tahoma"/>
              </a:rPr>
              <a:t> </a:t>
            </a:r>
            <a:r>
              <a:rPr dirty="0" sz="1100" spc="-25" b="1">
                <a:latin typeface="Tahoma"/>
                <a:cs typeface="Tahoma"/>
              </a:rPr>
              <a:t>ID: </a:t>
            </a:r>
            <a:r>
              <a:rPr dirty="0" sz="1100" spc="-85" b="1">
                <a:latin typeface="Tahoma"/>
                <a:cs typeface="Tahoma"/>
              </a:rPr>
              <a:t>Semester: </a:t>
            </a:r>
            <a:r>
              <a:rPr dirty="0" sz="1100" spc="-10" b="1">
                <a:latin typeface="Tahoma"/>
                <a:cs typeface="Tahoma"/>
              </a:rPr>
              <a:t>Section: Domain: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59482"/>
            <a:ext cx="139700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DSCPP-</a:t>
            </a:r>
            <a:r>
              <a:rPr dirty="0" sz="1100" spc="-45">
                <a:latin typeface="Tahoma"/>
                <a:cs typeface="Tahoma"/>
              </a:rPr>
              <a:t>III-</a:t>
            </a:r>
            <a:r>
              <a:rPr dirty="0" sz="1100" spc="-75">
                <a:latin typeface="Tahoma"/>
                <a:cs typeface="Tahoma"/>
              </a:rPr>
              <a:t>2026-</a:t>
            </a:r>
            <a:r>
              <a:rPr dirty="0" sz="1100" spc="-20">
                <a:latin typeface="Tahoma"/>
                <a:cs typeface="Tahoma"/>
              </a:rPr>
              <a:t>T122</a:t>
            </a:r>
            <a:endParaRPr sz="1100">
              <a:latin typeface="Tahoma"/>
              <a:cs typeface="Tahoma"/>
            </a:endParaRPr>
          </a:p>
          <a:p>
            <a:pPr marL="12700" marR="522605">
              <a:lnSpc>
                <a:spcPct val="102699"/>
              </a:lnSpc>
            </a:pPr>
            <a:r>
              <a:rPr dirty="0" sz="1100" spc="-25">
                <a:latin typeface="Tahoma"/>
                <a:cs typeface="Tahoma"/>
              </a:rPr>
              <a:t>3rd </a:t>
            </a:r>
            <a:r>
              <a:rPr dirty="0" sz="1100" spc="-10">
                <a:latin typeface="Tahoma"/>
                <a:cs typeface="Tahoma"/>
              </a:rPr>
              <a:t>ML2,ML3,DS1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Cybersecurity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00" i="1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AI/ML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68117" y="1224531"/>
            <a:ext cx="98551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Team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133768"/>
                </a:solidFill>
                <a:latin typeface="Calibri"/>
                <a:cs typeface="Calibri"/>
              </a:rPr>
              <a:t>Members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20685"/>
            <a:ext cx="2520950" cy="581660"/>
            <a:chOff x="2930016" y="1420685"/>
            <a:chExt cx="2520950" cy="58166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20685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64963"/>
              <a:ext cx="2520950" cy="537210"/>
            </a:xfrm>
            <a:custGeom>
              <a:avLst/>
              <a:gdLst/>
              <a:ahLst/>
              <a:cxnLst/>
              <a:rect l="l" t="t" r="r" b="b"/>
              <a:pathLst>
                <a:path w="2520950" h="537210">
                  <a:moveTo>
                    <a:pt x="2520810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2470010" y="537039"/>
                  </a:lnTo>
                  <a:lnTo>
                    <a:pt x="2489735" y="533030"/>
                  </a:lnTo>
                  <a:lnTo>
                    <a:pt x="2505888" y="522116"/>
                  </a:lnTo>
                  <a:lnTo>
                    <a:pt x="2516802" y="505963"/>
                  </a:lnTo>
                  <a:lnTo>
                    <a:pt x="2520810" y="486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8117" y="1435250"/>
            <a:ext cx="21431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Shivansh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Bajaj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2510370470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Ashrey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Goel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2510370302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Kangana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Agarwal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2510370470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83573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7294" y="2362578"/>
            <a:ext cx="4711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0">
                <a:solidFill>
                  <a:srgbClr val="133768"/>
                </a:solidFill>
                <a:latin typeface="Calibri"/>
                <a:cs typeface="Calibri"/>
              </a:rPr>
              <a:t>Mentor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58745"/>
            <a:ext cx="5142230" cy="237490"/>
            <a:chOff x="309193" y="2558745"/>
            <a:chExt cx="5142230" cy="23749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874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603020"/>
              <a:ext cx="5142230" cy="193040"/>
            </a:xfrm>
            <a:custGeom>
              <a:avLst/>
              <a:gdLst/>
              <a:ahLst/>
              <a:cxnLst/>
              <a:rect l="l" t="t" r="r" b="b"/>
              <a:pathLst>
                <a:path w="5142230" h="193039">
                  <a:moveTo>
                    <a:pt x="51416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090865" y="192885"/>
                  </a:lnTo>
                  <a:lnTo>
                    <a:pt x="5110590" y="188876"/>
                  </a:lnTo>
                  <a:lnTo>
                    <a:pt x="5126743" y="177962"/>
                  </a:lnTo>
                  <a:lnTo>
                    <a:pt x="5137657" y="161809"/>
                  </a:lnTo>
                  <a:lnTo>
                    <a:pt x="5141666" y="142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47294" y="2573297"/>
            <a:ext cx="1747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Mr.</a:t>
            </a:r>
            <a:r>
              <a:rPr dirty="0" sz="1100" spc="1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Pawan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Kumar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Mishra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Sir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650137" y="2573297"/>
            <a:ext cx="1712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 b="1">
                <a:latin typeface="Tahoma"/>
                <a:cs typeface="Tahoma"/>
              </a:rPr>
              <a:t>Interactions</a:t>
            </a:r>
            <a:r>
              <a:rPr dirty="0" sz="1100" spc="20" b="1">
                <a:latin typeface="Tahoma"/>
                <a:cs typeface="Tahoma"/>
              </a:rPr>
              <a:t> </a:t>
            </a:r>
            <a:r>
              <a:rPr dirty="0" sz="1100" spc="-70" b="1">
                <a:latin typeface="Tahoma"/>
                <a:cs typeface="Tahoma"/>
              </a:rPr>
              <a:t>completed</a:t>
            </a:r>
            <a:r>
              <a:rPr dirty="0" sz="1100" spc="20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:</a:t>
            </a:r>
            <a:r>
              <a:rPr dirty="0" sz="1100" spc="135" b="1">
                <a:latin typeface="Tahoma"/>
                <a:cs typeface="Tahoma"/>
              </a:rPr>
              <a:t> </a:t>
            </a:r>
            <a:r>
              <a:rPr dirty="0" sz="1100" spc="-50" b="1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Problem</a:t>
            </a:r>
            <a:r>
              <a:rPr dirty="0" spc="-20"/>
              <a:t> </a:t>
            </a:r>
            <a:r>
              <a:rPr dirty="0" spc="-6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9193" y="1091399"/>
            <a:ext cx="5142230" cy="1789430"/>
            <a:chOff x="309193" y="1091399"/>
            <a:chExt cx="5142230" cy="1789430"/>
          </a:xfrm>
        </p:grpSpPr>
        <p:sp>
          <p:nvSpPr>
            <p:cNvPr id="5" name="object 5"/>
            <p:cNvSpPr/>
            <p:nvPr/>
          </p:nvSpPr>
          <p:spPr>
            <a:xfrm>
              <a:off x="309193" y="1091399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66558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310821"/>
              <a:ext cx="5142230" cy="1569720"/>
            </a:xfrm>
            <a:custGeom>
              <a:avLst/>
              <a:gdLst/>
              <a:ahLst/>
              <a:cxnLst/>
              <a:rect l="l" t="t" r="r" b="b"/>
              <a:pathLst>
                <a:path w="5142230" h="1569720">
                  <a:moveTo>
                    <a:pt x="5141666" y="0"/>
                  </a:moveTo>
                  <a:lnTo>
                    <a:pt x="0" y="0"/>
                  </a:lnTo>
                  <a:lnTo>
                    <a:pt x="0" y="1518700"/>
                  </a:lnTo>
                  <a:lnTo>
                    <a:pt x="4008" y="1538425"/>
                  </a:lnTo>
                  <a:lnTo>
                    <a:pt x="14922" y="1554578"/>
                  </a:lnTo>
                  <a:lnTo>
                    <a:pt x="31075" y="1565492"/>
                  </a:lnTo>
                  <a:lnTo>
                    <a:pt x="50800" y="1569501"/>
                  </a:lnTo>
                  <a:lnTo>
                    <a:pt x="5090865" y="1569501"/>
                  </a:lnTo>
                  <a:lnTo>
                    <a:pt x="5110590" y="1565492"/>
                  </a:lnTo>
                  <a:lnTo>
                    <a:pt x="5126743" y="1554578"/>
                  </a:lnTo>
                  <a:lnTo>
                    <a:pt x="5137657" y="1538425"/>
                  </a:lnTo>
                  <a:lnTo>
                    <a:pt x="5141666" y="151870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7294" y="1039146"/>
            <a:ext cx="5065395" cy="181038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Problem</a:t>
            </a: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 Statement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Over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last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decade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country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India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experienced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gradual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rise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online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scams.Over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53.8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lakh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cyber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fraud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complaints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were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recorded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2023–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24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2025–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26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according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National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Cyber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Crime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portal.These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0" i="1">
                <a:solidFill>
                  <a:srgbClr val="595959"/>
                </a:solidFill>
                <a:latin typeface="Arial"/>
                <a:cs typeface="Arial"/>
              </a:rPr>
              <a:t>scams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increasingly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phishing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SMS,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email,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social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media,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malicious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links,and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QR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codes(quishing).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criminals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10" i="1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tactics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25" i="1">
                <a:solidFill>
                  <a:srgbClr val="595959"/>
                </a:solidFill>
                <a:latin typeface="Arial"/>
                <a:cs typeface="Arial"/>
              </a:rPr>
              <a:t>sense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urgency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20" i="1">
                <a:solidFill>
                  <a:srgbClr val="595959"/>
                </a:solidFill>
                <a:latin typeface="Arial"/>
                <a:cs typeface="Arial"/>
              </a:rPr>
              <a:t>sense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familiarism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trick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acting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without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verifying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authenticity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originality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of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10" i="1">
                <a:solidFill>
                  <a:srgbClr val="595959"/>
                </a:solidFill>
                <a:latin typeface="Arial"/>
                <a:cs typeface="Arial"/>
              </a:rPr>
              <a:t>message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first,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causing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panic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people’s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lives.This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0" i="1">
                <a:solidFill>
                  <a:srgbClr val="595959"/>
                </a:solidFill>
                <a:latin typeface="Arial"/>
                <a:cs typeface="Arial"/>
              </a:rPr>
              <a:t>because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single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scam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can contain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several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warning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signals,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focusing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just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single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miss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important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scam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that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could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harmful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not.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Motivation</a:t>
            </a:r>
            <a:r>
              <a:rPr dirty="0" spc="30"/>
              <a:t> </a:t>
            </a:r>
            <a:r>
              <a:rPr dirty="0" spc="85"/>
              <a:t>&amp;</a:t>
            </a:r>
            <a:r>
              <a:rPr dirty="0" spc="35"/>
              <a:t> </a:t>
            </a:r>
            <a:r>
              <a:rPr dirty="0" spc="-40"/>
              <a:t>Target</a:t>
            </a:r>
            <a:r>
              <a:rPr dirty="0" spc="30"/>
              <a:t> </a:t>
            </a:r>
            <a:r>
              <a:rPr dirty="0" spc="-50"/>
              <a:t>Users</a:t>
            </a:r>
            <a:r>
              <a:rPr dirty="0" spc="3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0"/>
              <a:t>Stakeholders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76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pc="-10"/>
              <a:t>Motivation</a:t>
            </a:r>
          </a:p>
          <a:p>
            <a:pPr marL="314960" marR="248920" indent="-168275">
              <a:lnSpc>
                <a:spcPct val="100000"/>
              </a:lnSpc>
              <a:spcBef>
                <a:spcPts val="595"/>
              </a:spcBef>
            </a:pPr>
            <a:r>
              <a:rPr dirty="0" baseline="5555" sz="1500" b="0">
                <a:latin typeface="Lucida Sans Unicode"/>
                <a:cs typeface="Lucida Sans Unicode"/>
              </a:rPr>
              <a:t>▶</a:t>
            </a:r>
            <a:r>
              <a:rPr dirty="0" baseline="5555" sz="1500" spc="225" b="0">
                <a:latin typeface="Lucida Sans Unicode"/>
                <a:cs typeface="Lucida Sans Unicode"/>
              </a:rPr>
              <a:t> </a:t>
            </a:r>
            <a:r>
              <a:rPr dirty="0" sz="1000" spc="-75" b="0" i="1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redirected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websites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b="0" i="1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 can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b="0" i="1">
                <a:solidFill>
                  <a:srgbClr val="595959"/>
                </a:solidFill>
                <a:latin typeface="Arial"/>
                <a:cs typeface="Arial"/>
              </a:rPr>
              <a:t>lose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their</a:t>
            </a:r>
            <a:r>
              <a:rPr dirty="0" sz="100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credentials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leading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havoc.</a:t>
            </a:r>
            <a:r>
              <a:rPr dirty="0" sz="1000" spc="1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4960" marR="33655" indent="-168275">
              <a:lnSpc>
                <a:spcPct val="100000"/>
              </a:lnSpc>
              <a:spcBef>
                <a:spcPts val="484"/>
              </a:spcBef>
            </a:pPr>
            <a:r>
              <a:rPr dirty="0" baseline="5555" sz="1500" b="0">
                <a:latin typeface="Lucida Sans Unicode"/>
                <a:cs typeface="Lucida Sans Unicode"/>
              </a:rPr>
              <a:t>▶</a:t>
            </a:r>
            <a:r>
              <a:rPr dirty="0" baseline="5555" sz="1500" spc="209" b="0">
                <a:latin typeface="Lucida Sans Unicode"/>
                <a:cs typeface="Lucida Sans Unicode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Threat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indicators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b="0" i="1">
                <a:solidFill>
                  <a:srgbClr val="595959"/>
                </a:solidFill>
                <a:latin typeface="Arial"/>
                <a:cs typeface="Arial"/>
              </a:rPr>
              <a:t>appear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forms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90" b="0" i="1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dirty="0" sz="100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text,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URLs,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codes, 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images.</a:t>
            </a:r>
            <a:endParaRPr sz="1000">
              <a:latin typeface="Arial"/>
              <a:cs typeface="Arial"/>
            </a:endParaRPr>
          </a:p>
          <a:p>
            <a:pPr marL="314960" marR="30480" indent="-168275">
              <a:lnSpc>
                <a:spcPct val="100000"/>
              </a:lnSpc>
              <a:spcBef>
                <a:spcPts val="484"/>
              </a:spcBef>
            </a:pPr>
            <a:r>
              <a:rPr dirty="0" baseline="5555" sz="1500" b="0">
                <a:latin typeface="Lucida Sans Unicode"/>
                <a:cs typeface="Lucida Sans Unicode"/>
              </a:rPr>
              <a:t>▶</a:t>
            </a:r>
            <a:r>
              <a:rPr dirty="0" baseline="5555" sz="1500" spc="157" b="0">
                <a:latin typeface="Lucida Sans Unicode"/>
                <a:cs typeface="Lucida Sans Unicode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treats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0" b="0" i="1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dirty="0" sz="1000" spc="3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5" b="0" i="1">
                <a:solidFill>
                  <a:srgbClr val="595959"/>
                </a:solidFill>
                <a:latin typeface="Arial"/>
                <a:cs typeface="Arial"/>
              </a:rPr>
              <a:t>evidence-</a:t>
            </a:r>
            <a:r>
              <a:rPr dirty="0" sz="1000" spc="-35" b="0" i="1">
                <a:solidFill>
                  <a:srgbClr val="595959"/>
                </a:solidFill>
                <a:latin typeface="Arial"/>
                <a:cs typeface="Arial"/>
              </a:rPr>
              <a:t>fusion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task,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combining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signals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various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forms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41904" y="921328"/>
            <a:ext cx="2578100" cy="16452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z="1000" spc="-45" b="1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dirty="0" sz="10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595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 b="1">
                <a:solidFill>
                  <a:srgbClr val="595959"/>
                </a:solidFill>
                <a:latin typeface="Tahoma"/>
                <a:cs typeface="Tahoma"/>
              </a:rPr>
              <a:t>Primary</a:t>
            </a:r>
            <a:r>
              <a:rPr dirty="0" sz="10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50" b="1">
                <a:solidFill>
                  <a:srgbClr val="595959"/>
                </a:solidFill>
                <a:latin typeface="Tahoma"/>
                <a:cs typeface="Tahoma"/>
              </a:rPr>
              <a:t>Users:</a:t>
            </a:r>
            <a:r>
              <a:rPr dirty="0" sz="1000" spc="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Smartphone</a:t>
            </a:r>
            <a:r>
              <a:rPr dirty="0" sz="10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users,</a:t>
            </a:r>
            <a:r>
              <a:rPr dirty="0" sz="10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senior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citizens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UPI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users.</a:t>
            </a:r>
            <a:endParaRPr sz="1000">
              <a:latin typeface="Arial"/>
              <a:cs typeface="Arial"/>
            </a:endParaRPr>
          </a:p>
          <a:p>
            <a:pPr marL="314960" marR="232410" indent="-168275">
              <a:lnSpc>
                <a:spcPct val="100000"/>
              </a:lnSpc>
              <a:spcBef>
                <a:spcPts val="3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5" b="1">
                <a:solidFill>
                  <a:srgbClr val="595959"/>
                </a:solidFill>
                <a:latin typeface="Tahoma"/>
                <a:cs typeface="Tahoma"/>
              </a:rPr>
              <a:t>Secondary</a:t>
            </a:r>
            <a:r>
              <a:rPr dirty="0" sz="1000" spc="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50" b="1">
                <a:solidFill>
                  <a:srgbClr val="595959"/>
                </a:solidFill>
                <a:latin typeface="Tahoma"/>
                <a:cs typeface="Tahoma"/>
              </a:rPr>
              <a:t>Users:</a:t>
            </a:r>
            <a:r>
              <a:rPr dirty="0" sz="1000" spc="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Banks,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finance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platforms,</a:t>
            </a:r>
            <a:r>
              <a:rPr dirty="0" sz="10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cybersecurity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organizations.</a:t>
            </a:r>
            <a:endParaRPr sz="1000">
              <a:latin typeface="Arial"/>
              <a:cs typeface="Arial"/>
            </a:endParaRPr>
          </a:p>
          <a:p>
            <a:pPr marL="314960" marR="160655" indent="-168275">
              <a:lnSpc>
                <a:spcPct val="100000"/>
              </a:lnSpc>
              <a:spcBef>
                <a:spcPts val="3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 b="1">
                <a:solidFill>
                  <a:srgbClr val="595959"/>
                </a:solidFill>
                <a:latin typeface="Tahoma"/>
                <a:cs typeface="Tahoma"/>
              </a:rPr>
              <a:t>Expected</a:t>
            </a:r>
            <a:r>
              <a:rPr dirty="0" sz="10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40" b="1">
                <a:solidFill>
                  <a:srgbClr val="595959"/>
                </a:solidFill>
                <a:latin typeface="Tahoma"/>
                <a:cs typeface="Tahoma"/>
              </a:rPr>
              <a:t>Benefit:</a:t>
            </a:r>
            <a:r>
              <a:rPr dirty="0" sz="1000" spc="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dirty="0" sz="10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under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platform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increases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accessibility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minimizes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financial and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 cybercrime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fraud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risks.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66952"/>
            <a:ext cx="5049520" cy="14135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30" b="1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dirty="0" sz="8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sz="800">
              <a:latin typeface="Tahoma"/>
              <a:cs typeface="Tahoma"/>
            </a:endParaRPr>
          </a:p>
          <a:p>
            <a:pPr marL="289560" marR="39370" indent="-153035">
              <a:lnSpc>
                <a:spcPts val="950"/>
              </a:lnSpc>
              <a:spcBef>
                <a:spcPts val="359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We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need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identify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phishing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attempts,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malicious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URLs,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quishing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attacks,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impersonation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scams,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can</a:t>
            </a:r>
            <a:r>
              <a:rPr dirty="0" sz="800" spc="-20">
                <a:latin typeface="Arial"/>
                <a:cs typeface="Arial"/>
              </a:rPr>
              <a:t> have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negative</a:t>
            </a:r>
            <a:r>
              <a:rPr dirty="0" sz="800">
                <a:latin typeface="Arial"/>
                <a:cs typeface="Arial"/>
              </a:rPr>
              <a:t> efect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 </a:t>
            </a:r>
            <a:r>
              <a:rPr dirty="0" sz="800" spc="-30">
                <a:latin typeface="Arial"/>
                <a:cs typeface="Arial"/>
              </a:rPr>
              <a:t>users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life..</a:t>
            </a:r>
            <a:endParaRPr sz="800">
              <a:latin typeface="Arial"/>
              <a:cs typeface="Arial"/>
            </a:endParaRPr>
          </a:p>
          <a:p>
            <a:pPr marL="289560" marR="5080" indent="-153035">
              <a:lnSpc>
                <a:spcPts val="95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We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need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gather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analyze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from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different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sources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like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text,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URL’s,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QR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codes,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screenshots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 spc="-20">
                <a:latin typeface="Arial"/>
                <a:cs typeface="Arial"/>
              </a:rPr>
              <a:t> user’s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input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detect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scam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strategies.</a:t>
            </a:r>
            <a:endParaRPr sz="800">
              <a:latin typeface="Arial"/>
              <a:cs typeface="Arial"/>
            </a:endParaRPr>
          </a:p>
          <a:p>
            <a:pPr marL="289560" indent="-153035">
              <a:lnSpc>
                <a:spcPct val="100000"/>
              </a:lnSpc>
              <a:spcBef>
                <a:spcPts val="15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Combining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results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different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modalities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detect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different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signals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make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perfect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model.</a:t>
            </a:r>
            <a:endParaRPr sz="800">
              <a:latin typeface="Arial"/>
              <a:cs typeface="Arial"/>
            </a:endParaRPr>
          </a:p>
          <a:p>
            <a:pPr marL="289560" marR="219075" indent="-153035">
              <a:lnSpc>
                <a:spcPts val="950"/>
              </a:lnSpc>
              <a:spcBef>
                <a:spcPts val="22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offer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clear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risk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score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shows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how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likely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50">
                <a:latin typeface="Arial"/>
                <a:cs typeface="Arial"/>
              </a:rPr>
              <a:t>it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user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face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potential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scam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based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report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generated.</a:t>
            </a:r>
            <a:endParaRPr sz="800">
              <a:latin typeface="Arial"/>
              <a:cs typeface="Arial"/>
            </a:endParaRPr>
          </a:p>
          <a:p>
            <a:pPr marL="289560" marR="537210" indent="-153035">
              <a:lnSpc>
                <a:spcPts val="95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To </a:t>
            </a:r>
            <a:r>
              <a:rPr dirty="0" sz="800" spc="-10">
                <a:latin typeface="Arial"/>
                <a:cs typeface="Arial"/>
              </a:rPr>
              <a:t>evaluate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using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suitable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metrics </a:t>
            </a:r>
            <a:r>
              <a:rPr dirty="0" sz="800" spc="-10">
                <a:latin typeface="Arial"/>
                <a:cs typeface="Arial"/>
              </a:rPr>
              <a:t>such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as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accuracy,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precision,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recall,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F1-</a:t>
            </a:r>
            <a:r>
              <a:rPr dirty="0" sz="800" spc="-20">
                <a:latin typeface="Arial"/>
                <a:cs typeface="Arial"/>
              </a:rPr>
              <a:t>score,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and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false-</a:t>
            </a:r>
            <a:r>
              <a:rPr dirty="0" sz="800">
                <a:latin typeface="Arial"/>
                <a:cs typeface="Arial"/>
              </a:rPr>
              <a:t>positive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rate.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5627" y="2408542"/>
            <a:ext cx="4208780" cy="594995"/>
          </a:xfrm>
          <a:prstGeom prst="rect">
            <a:avLst/>
          </a:prstGeom>
          <a:solidFill>
            <a:srgbClr val="EDF3FA"/>
          </a:solidFill>
        </p:spPr>
        <p:txBody>
          <a:bodyPr wrap="square" lIns="0" tIns="635" rIns="0" bIns="0" rtlCol="0" vert="horz">
            <a:spAutoFit/>
          </a:bodyPr>
          <a:lstStyle/>
          <a:p>
            <a:pPr algn="ctr" marL="133985" marR="126364">
              <a:lnSpc>
                <a:spcPct val="101499"/>
              </a:lnSpc>
              <a:spcBef>
                <a:spcPts val="5"/>
              </a:spcBef>
            </a:pPr>
            <a:r>
              <a:rPr dirty="0" sz="900" b="1">
                <a:latin typeface="Tahoma"/>
                <a:cs typeface="Tahoma"/>
              </a:rPr>
              <a:t>Key</a:t>
            </a:r>
            <a:r>
              <a:rPr dirty="0" sz="900" spc="15" b="1">
                <a:latin typeface="Tahoma"/>
                <a:cs typeface="Tahoma"/>
              </a:rPr>
              <a:t> </a:t>
            </a:r>
            <a:r>
              <a:rPr dirty="0" sz="900" spc="-45" b="1">
                <a:latin typeface="Tahoma"/>
                <a:cs typeface="Tahoma"/>
              </a:rPr>
              <a:t>Objective:</a:t>
            </a:r>
            <a:r>
              <a:rPr dirty="0" sz="900" spc="85" b="1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Development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ScamShield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model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system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that</a:t>
            </a:r>
            <a:r>
              <a:rPr dirty="0" sz="900" spc="-20">
                <a:latin typeface="Tahoma"/>
                <a:cs typeface="Tahoma"/>
              </a:rPr>
              <a:t> integrates </a:t>
            </a:r>
            <a:r>
              <a:rPr dirty="0" sz="900" spc="-25">
                <a:latin typeface="Tahoma"/>
                <a:cs typeface="Tahoma"/>
              </a:rPr>
              <a:t>the </a:t>
            </a:r>
            <a:r>
              <a:rPr dirty="0" sz="900" spc="-20">
                <a:latin typeface="Tahoma"/>
                <a:cs typeface="Tahoma"/>
              </a:rPr>
              <a:t>various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forms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evidence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(from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different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sources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like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text,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URL’s,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QR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codes, </a:t>
            </a:r>
            <a:r>
              <a:rPr dirty="0" sz="900" spc="-35">
                <a:latin typeface="Tahoma"/>
                <a:cs typeface="Tahoma"/>
              </a:rPr>
              <a:t>screenshots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user’s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input)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identify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scams,</a:t>
            </a:r>
            <a:r>
              <a:rPr dirty="0" sz="900" spc="-20">
                <a:latin typeface="Tahoma"/>
                <a:cs typeface="Tahoma"/>
              </a:rPr>
              <a:t> offering </a:t>
            </a:r>
            <a:r>
              <a:rPr dirty="0" sz="900" spc="-30">
                <a:latin typeface="Tahoma"/>
                <a:cs typeface="Tahoma"/>
              </a:rPr>
              <a:t>users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perfect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risk </a:t>
            </a:r>
            <a:r>
              <a:rPr dirty="0" sz="900" spc="-40">
                <a:latin typeface="Tahoma"/>
                <a:cs typeface="Tahoma"/>
              </a:rPr>
              <a:t>assessment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reduce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case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cyber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threats.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Proposed</a:t>
            </a:r>
            <a:r>
              <a:rPr dirty="0" spc="-5"/>
              <a:t> </a:t>
            </a:r>
            <a:r>
              <a:rPr dirty="0" spc="-55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940273"/>
            <a:ext cx="2317115" cy="135445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900" spc="-45" b="1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dirty="0" sz="9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sz="900">
              <a:latin typeface="Tahoma"/>
              <a:cs typeface="Tahoma"/>
            </a:endParaRPr>
          </a:p>
          <a:p>
            <a:pPr marL="290195" indent="-161290">
              <a:lnSpc>
                <a:spcPct val="100000"/>
              </a:lnSpc>
              <a:spcBef>
                <a:spcPts val="414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Collection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5" i="1">
                <a:solidFill>
                  <a:srgbClr val="595959"/>
                </a:solidFill>
                <a:latin typeface="Arial"/>
                <a:cs typeface="Arial"/>
              </a:rPr>
              <a:t>user’s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  <a:p>
            <a:pPr marL="290195" indent="-161290">
              <a:lnSpc>
                <a:spcPct val="100000"/>
              </a:lnSpc>
              <a:spcBef>
                <a:spcPts val="509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9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Preprocessing</a:t>
            </a:r>
            <a:endParaRPr sz="900">
              <a:latin typeface="Arial"/>
              <a:cs typeface="Arial"/>
            </a:endParaRPr>
          </a:p>
          <a:p>
            <a:pPr marL="289560" marR="13335" indent="-160655">
              <a:lnSpc>
                <a:spcPct val="101499"/>
              </a:lnSpc>
              <a:spcBef>
                <a:spcPts val="5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9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9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9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9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Fusion</a:t>
            </a:r>
            <a:r>
              <a:rPr dirty="0" sz="9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50" i="1">
                <a:solidFill>
                  <a:srgbClr val="595959"/>
                </a:solidFill>
                <a:latin typeface="Arial"/>
                <a:cs typeface="Arial"/>
              </a:rPr>
              <a:t>reasonable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 evidence</a:t>
            </a:r>
            <a:endParaRPr sz="900">
              <a:latin typeface="Arial"/>
              <a:cs typeface="Arial"/>
            </a:endParaRPr>
          </a:p>
          <a:p>
            <a:pPr marL="290195" indent="-161290">
              <a:lnSpc>
                <a:spcPct val="100000"/>
              </a:lnSpc>
              <a:spcBef>
                <a:spcPts val="51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Scoring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Final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  <a:p>
            <a:pPr marL="290195" indent="-161290">
              <a:lnSpc>
                <a:spcPct val="100000"/>
              </a:lnSpc>
              <a:spcBef>
                <a:spcPts val="51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2717" y="940273"/>
            <a:ext cx="2438400" cy="13919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dirty="0" sz="900" b="1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dirty="0" sz="900" spc="-4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900">
              <a:latin typeface="Tahoma"/>
              <a:cs typeface="Tahoma"/>
            </a:endParaRPr>
          </a:p>
          <a:p>
            <a:pPr marL="156845">
              <a:lnSpc>
                <a:spcPct val="100000"/>
              </a:lnSpc>
              <a:spcBef>
                <a:spcPts val="414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60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900" spc="1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C++OOP/DSA</a:t>
            </a:r>
            <a:r>
              <a:rPr dirty="0" sz="900" spc="1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threat-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dirty="0" sz="900" spc="1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engine</a:t>
            </a:r>
            <a:endParaRPr sz="90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1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0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any</a:t>
            </a:r>
            <a:r>
              <a:rPr dirty="0" sz="9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malicious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90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1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1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9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updateable</a:t>
            </a:r>
            <a:r>
              <a:rPr dirty="0" sz="9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9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5" i="1">
                <a:solidFill>
                  <a:srgbClr val="595959"/>
                </a:solidFill>
                <a:latin typeface="Arial"/>
                <a:cs typeface="Arial"/>
              </a:rPr>
              <a:t>knowledge</a:t>
            </a:r>
            <a:r>
              <a:rPr dirty="0" sz="9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r>
              <a:rPr dirty="0" sz="900" spc="-10">
                <a:latin typeface="Tahoma"/>
                <a:cs typeface="Tahoma"/>
              </a:rPr>
              <a:t>;</a:t>
            </a:r>
            <a:endParaRPr sz="900">
              <a:latin typeface="Tahoma"/>
              <a:cs typeface="Tahoma"/>
            </a:endParaRPr>
          </a:p>
          <a:p>
            <a:pPr marL="314960" marR="89535" indent="-158115">
              <a:lnSpc>
                <a:spcPct val="101499"/>
              </a:lnSpc>
              <a:spcBef>
                <a:spcPts val="29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84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malicious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URL’s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endParaRPr sz="900">
              <a:latin typeface="Arial"/>
              <a:cs typeface="Arial"/>
            </a:endParaRPr>
          </a:p>
          <a:p>
            <a:pPr marL="314960" marR="91440" indent="-158115">
              <a:lnSpc>
                <a:spcPct val="101499"/>
              </a:lnSpc>
              <a:spcBef>
                <a:spcPts val="300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6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Interpretable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45" i="1">
                <a:solidFill>
                  <a:srgbClr val="595959"/>
                </a:solidFill>
                <a:latin typeface="Arial"/>
                <a:cs typeface="Arial"/>
              </a:rPr>
              <a:t>score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integration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45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result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294725"/>
            <a:ext cx="5056505" cy="71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100"/>
              </a:spcBef>
            </a:pP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ScamShield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45">
                <a:solidFill>
                  <a:srgbClr val="595959"/>
                </a:solidFill>
                <a:latin typeface="Arial"/>
                <a:cs typeface="Arial"/>
              </a:rPr>
              <a:t>addresses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gap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pre-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scam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often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analyze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signals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separately</a:t>
            </a:r>
            <a:r>
              <a:rPr dirty="0" sz="8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fail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layer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phishing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whereas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dirty="0" sz="8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integrates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multimodal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signals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text,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URLs,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codes,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screenshots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identify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595959"/>
                </a:solidFill>
                <a:latin typeface="Arial"/>
                <a:cs typeface="Arial"/>
              </a:rPr>
              <a:t>scams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provide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accurate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risk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report.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Integration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60"/>
              <a:t>PBL</a:t>
            </a:r>
            <a:r>
              <a:rPr dirty="0" spc="25"/>
              <a:t> </a:t>
            </a:r>
            <a:r>
              <a:rPr dirty="0" spc="-50"/>
              <a:t>Course</a:t>
            </a:r>
            <a:r>
              <a:rPr dirty="0" spc="25"/>
              <a:t> </a:t>
            </a:r>
            <a:r>
              <a:rPr dirty="0" spc="-35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1051572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088388"/>
            <a:ext cx="341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latin typeface="Tahoma"/>
                <a:cs typeface="Tahoma"/>
              </a:rPr>
              <a:t>Course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891" y="1088388"/>
            <a:ext cx="8083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Arial"/>
                <a:cs typeface="Arial"/>
              </a:rPr>
              <a:t>Concepts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Applied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6582" y="1088388"/>
            <a:ext cx="7188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Project</a:t>
            </a:r>
            <a:r>
              <a:rPr dirty="0" sz="800" spc="8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781" y="127547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8081" y="1310219"/>
            <a:ext cx="99504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Tahoma"/>
                <a:cs typeface="Tahoma"/>
              </a:rPr>
              <a:t>Data</a:t>
            </a:r>
            <a:r>
              <a:rPr dirty="0" sz="800" spc="-5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Structures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in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C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917" y="1310219"/>
            <a:ext cx="258000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Arrays,</a:t>
            </a:r>
            <a:r>
              <a:rPr dirty="0" sz="800" spc="45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Linked</a:t>
            </a:r>
            <a:r>
              <a:rPr dirty="0" sz="800" spc="3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Lists,Queue,</a:t>
            </a:r>
            <a:r>
              <a:rPr dirty="0" sz="800" spc="4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Trees,Stacks,</a:t>
            </a:r>
            <a:r>
              <a:rPr dirty="0" sz="800" spc="45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Hashing,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Searching,Sorting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8081" y="1700858"/>
            <a:ext cx="8178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latin typeface="Tahoma"/>
                <a:cs typeface="Tahoma"/>
              </a:rPr>
              <a:t>OOPs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55" b="1">
                <a:latin typeface="Tahoma"/>
                <a:cs typeface="Tahoma"/>
              </a:rPr>
              <a:t>with</a:t>
            </a:r>
            <a:r>
              <a:rPr dirty="0" sz="800" spc="30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C++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917" y="1700858"/>
            <a:ext cx="257937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Classes,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Objects,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Inheritance,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Polymorphism,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STL,</a:t>
            </a:r>
            <a:r>
              <a:rPr dirty="0" sz="800" spc="10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modular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0781" y="2008149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86516" y="1310219"/>
            <a:ext cx="925830" cy="10001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Management of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in-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put</a:t>
            </a:r>
            <a:r>
              <a:rPr dirty="0" sz="800" spc="9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endParaRPr sz="800">
              <a:latin typeface="Arial"/>
              <a:cs typeface="Arial"/>
            </a:endParaRPr>
          </a:p>
          <a:p>
            <a:pPr algn="just" marL="12700" marR="5080">
              <a:lnSpc>
                <a:spcPts val="950"/>
              </a:lnSpc>
              <a:spcBef>
                <a:spcPts val="22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8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Logic</a:t>
            </a:r>
            <a:endParaRPr sz="800">
              <a:latin typeface="Arial"/>
              <a:cs typeface="Arial"/>
            </a:endParaRPr>
          </a:p>
          <a:p>
            <a:pPr algn="just" marL="12700" marR="5080">
              <a:lnSpc>
                <a:spcPts val="950"/>
              </a:lnSpc>
              <a:spcBef>
                <a:spcPts val="7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Multimodal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Pro-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cessing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8081" y="2042895"/>
            <a:ext cx="902969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40" b="1">
                <a:latin typeface="Tahoma"/>
                <a:cs typeface="Tahoma"/>
              </a:rPr>
              <a:t>Operating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55" b="1">
                <a:latin typeface="Tahoma"/>
                <a:cs typeface="Tahoma"/>
              </a:rPr>
              <a:t>Systems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770" y="2042895"/>
            <a:ext cx="2580640" cy="537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40" i="1">
                <a:solidFill>
                  <a:srgbClr val="595959"/>
                </a:solidFill>
                <a:latin typeface="Arial"/>
                <a:cs typeface="Arial"/>
              </a:rPr>
              <a:t>Process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Management,</a:t>
            </a:r>
            <a:r>
              <a:rPr dirty="0" sz="8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800">
              <a:latin typeface="Arial"/>
              <a:cs typeface="Arial"/>
            </a:endParaRPr>
          </a:p>
          <a:p>
            <a:pPr marL="12700" marR="5715" indent="-635">
              <a:lnSpc>
                <a:spcPts val="950"/>
              </a:lnSpc>
              <a:spcBef>
                <a:spcPts val="229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SQL,</a:t>
            </a:r>
            <a:r>
              <a:rPr dirty="0" sz="8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Tables,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Normalization,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Transactions,</a:t>
            </a:r>
            <a:r>
              <a:rPr dirty="0" sz="8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Indexing,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structured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081" y="2313341"/>
            <a:ext cx="3409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latin typeface="Tahoma"/>
                <a:cs typeface="Tahoma"/>
              </a:rPr>
              <a:t>DBMS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6516" y="2313341"/>
            <a:ext cx="925830" cy="387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800" spc="265" i="1">
                <a:solidFill>
                  <a:srgbClr val="595959"/>
                </a:solidFill>
                <a:latin typeface="Arial"/>
                <a:cs typeface="Arial"/>
              </a:rPr>
              <a:t>  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Management</a:t>
            </a:r>
            <a:r>
              <a:rPr dirty="0" sz="800" spc="355" i="1">
                <a:solidFill>
                  <a:srgbClr val="595959"/>
                </a:solidFill>
                <a:latin typeface="Arial"/>
                <a:cs typeface="Arial"/>
              </a:rPr>
              <a:t>   </a:t>
            </a: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Storage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Results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0781" y="2742907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7294" y="2900188"/>
            <a:ext cx="4699635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Demonstration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meaningful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integration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9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8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595959"/>
                </a:solidFill>
                <a:latin typeface="Tahoma"/>
                <a:cs typeface="Tahoma"/>
              </a:rPr>
              <a:t>Structures</a:t>
            </a:r>
            <a:r>
              <a:rPr dirty="0" sz="8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8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8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595959"/>
                </a:solidFill>
                <a:latin typeface="Tahoma"/>
                <a:cs typeface="Tahoma"/>
              </a:rPr>
              <a:t>OOPs</a:t>
            </a:r>
            <a:r>
              <a:rPr dirty="0" sz="8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595959"/>
                </a:solidFill>
                <a:latin typeface="Tahoma"/>
                <a:cs typeface="Tahoma"/>
              </a:rPr>
              <a:t>with</a:t>
            </a:r>
            <a:r>
              <a:rPr dirty="0" sz="8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595959"/>
                </a:solidFill>
                <a:latin typeface="Tahoma"/>
                <a:cs typeface="Tahoma"/>
              </a:rPr>
              <a:t>C++</a:t>
            </a:r>
            <a:r>
              <a:rPr dirty="0" sz="8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project.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7</a:t>
            </a:fld>
            <a:r>
              <a:rPr dirty="0" spc="-20"/>
              <a:t>/11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System</a:t>
            </a:r>
            <a:r>
              <a:rPr dirty="0" spc="25"/>
              <a:t> </a:t>
            </a:r>
            <a:r>
              <a:rPr dirty="0" spc="-50"/>
              <a:t>Architecture</a:t>
            </a:r>
            <a:r>
              <a:rPr dirty="0" spc="30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59976" y="1137055"/>
            <a:ext cx="1294130" cy="313690"/>
            <a:chOff x="359976" y="1137055"/>
            <a:chExt cx="1294130" cy="313690"/>
          </a:xfrm>
        </p:grpSpPr>
        <p:sp>
          <p:nvSpPr>
            <p:cNvPr id="5" name="object 5"/>
            <p:cNvSpPr/>
            <p:nvPr/>
          </p:nvSpPr>
          <p:spPr>
            <a:xfrm>
              <a:off x="362516" y="1139595"/>
              <a:ext cx="1289050" cy="308610"/>
            </a:xfrm>
            <a:custGeom>
              <a:avLst/>
              <a:gdLst/>
              <a:ahLst/>
              <a:cxnLst/>
              <a:rect l="l" t="t" r="r" b="b"/>
              <a:pathLst>
                <a:path w="1289050" h="308609">
                  <a:moveTo>
                    <a:pt x="12383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7542"/>
                  </a:lnTo>
                  <a:lnTo>
                    <a:pt x="3977" y="277242"/>
                  </a:lnTo>
                  <a:lnTo>
                    <a:pt x="14823" y="293330"/>
                  </a:lnTo>
                  <a:lnTo>
                    <a:pt x="30910" y="304176"/>
                  </a:lnTo>
                  <a:lnTo>
                    <a:pt x="50610" y="308153"/>
                  </a:lnTo>
                  <a:lnTo>
                    <a:pt x="1238321" y="308153"/>
                  </a:lnTo>
                  <a:lnTo>
                    <a:pt x="1258021" y="304176"/>
                  </a:lnTo>
                  <a:lnTo>
                    <a:pt x="1274108" y="293330"/>
                  </a:lnTo>
                  <a:lnTo>
                    <a:pt x="1284954" y="277242"/>
                  </a:lnTo>
                  <a:lnTo>
                    <a:pt x="1288932" y="257542"/>
                  </a:lnTo>
                  <a:lnTo>
                    <a:pt x="1288932" y="50610"/>
                  </a:lnTo>
                  <a:lnTo>
                    <a:pt x="1284954" y="30910"/>
                  </a:lnTo>
                  <a:lnTo>
                    <a:pt x="1274108" y="14823"/>
                  </a:lnTo>
                  <a:lnTo>
                    <a:pt x="1258021" y="3977"/>
                  </a:lnTo>
                  <a:lnTo>
                    <a:pt x="1238321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2516" y="1139595"/>
              <a:ext cx="1289050" cy="308610"/>
            </a:xfrm>
            <a:custGeom>
              <a:avLst/>
              <a:gdLst/>
              <a:ahLst/>
              <a:cxnLst/>
              <a:rect l="l" t="t" r="r" b="b"/>
              <a:pathLst>
                <a:path w="1289050" h="308609">
                  <a:moveTo>
                    <a:pt x="12383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7542"/>
                  </a:lnTo>
                  <a:lnTo>
                    <a:pt x="3977" y="277242"/>
                  </a:lnTo>
                  <a:lnTo>
                    <a:pt x="14823" y="293330"/>
                  </a:lnTo>
                  <a:lnTo>
                    <a:pt x="30910" y="304176"/>
                  </a:lnTo>
                  <a:lnTo>
                    <a:pt x="50610" y="308153"/>
                  </a:lnTo>
                  <a:lnTo>
                    <a:pt x="1238321" y="308153"/>
                  </a:lnTo>
                  <a:lnTo>
                    <a:pt x="1258021" y="304176"/>
                  </a:lnTo>
                  <a:lnTo>
                    <a:pt x="1274108" y="293330"/>
                  </a:lnTo>
                  <a:lnTo>
                    <a:pt x="1284954" y="277242"/>
                  </a:lnTo>
                  <a:lnTo>
                    <a:pt x="1288932" y="257542"/>
                  </a:lnTo>
                  <a:lnTo>
                    <a:pt x="1288932" y="50610"/>
                  </a:lnTo>
                  <a:lnTo>
                    <a:pt x="1284954" y="30910"/>
                  </a:lnTo>
                  <a:lnTo>
                    <a:pt x="1274108" y="14823"/>
                  </a:lnTo>
                  <a:lnTo>
                    <a:pt x="1258021" y="3977"/>
                  </a:lnTo>
                  <a:lnTo>
                    <a:pt x="1238321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96011" y="1142147"/>
            <a:ext cx="1222375" cy="267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User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Input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55"/>
              </a:lnSpc>
            </a:pPr>
            <a:r>
              <a:rPr dirty="0" sz="800">
                <a:latin typeface="Arial"/>
                <a:cs typeface="Arial"/>
              </a:rPr>
              <a:t>Text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URL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QR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Image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9971" y="1149708"/>
            <a:ext cx="1050925" cy="288290"/>
            <a:chOff x="1779971" y="1149708"/>
            <a:chExt cx="1050925" cy="288290"/>
          </a:xfrm>
        </p:grpSpPr>
        <p:sp>
          <p:nvSpPr>
            <p:cNvPr id="9" name="object 9"/>
            <p:cNvSpPr/>
            <p:nvPr/>
          </p:nvSpPr>
          <p:spPr>
            <a:xfrm>
              <a:off x="1782511" y="1152248"/>
              <a:ext cx="1045844" cy="283210"/>
            </a:xfrm>
            <a:custGeom>
              <a:avLst/>
              <a:gdLst/>
              <a:ahLst/>
              <a:cxnLst/>
              <a:rect l="l" t="t" r="r" b="b"/>
              <a:pathLst>
                <a:path w="1045844" h="283209">
                  <a:moveTo>
                    <a:pt x="99475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94753" y="282848"/>
                  </a:lnTo>
                  <a:lnTo>
                    <a:pt x="1014453" y="278871"/>
                  </a:lnTo>
                  <a:lnTo>
                    <a:pt x="1030540" y="268024"/>
                  </a:lnTo>
                  <a:lnTo>
                    <a:pt x="1041386" y="251937"/>
                  </a:lnTo>
                  <a:lnTo>
                    <a:pt x="1045363" y="232237"/>
                  </a:lnTo>
                  <a:lnTo>
                    <a:pt x="1045363" y="50610"/>
                  </a:lnTo>
                  <a:lnTo>
                    <a:pt x="1041386" y="30910"/>
                  </a:lnTo>
                  <a:lnTo>
                    <a:pt x="1030540" y="14823"/>
                  </a:lnTo>
                  <a:lnTo>
                    <a:pt x="1014453" y="3977"/>
                  </a:lnTo>
                  <a:lnTo>
                    <a:pt x="994753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82511" y="1152248"/>
              <a:ext cx="1045844" cy="283210"/>
            </a:xfrm>
            <a:custGeom>
              <a:avLst/>
              <a:gdLst/>
              <a:ahLst/>
              <a:cxnLst/>
              <a:rect l="l" t="t" r="r" b="b"/>
              <a:pathLst>
                <a:path w="1045844" h="283209">
                  <a:moveTo>
                    <a:pt x="99475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94753" y="282848"/>
                  </a:lnTo>
                  <a:lnTo>
                    <a:pt x="1014453" y="278871"/>
                  </a:lnTo>
                  <a:lnTo>
                    <a:pt x="1030540" y="268024"/>
                  </a:lnTo>
                  <a:lnTo>
                    <a:pt x="1041386" y="251937"/>
                  </a:lnTo>
                  <a:lnTo>
                    <a:pt x="1045363" y="232237"/>
                  </a:lnTo>
                  <a:lnTo>
                    <a:pt x="1045363" y="50610"/>
                  </a:lnTo>
                  <a:lnTo>
                    <a:pt x="1041386" y="30910"/>
                  </a:lnTo>
                  <a:lnTo>
                    <a:pt x="1030540" y="14823"/>
                  </a:lnTo>
                  <a:lnTo>
                    <a:pt x="1014453" y="3977"/>
                  </a:lnTo>
                  <a:lnTo>
                    <a:pt x="994753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815985" y="1154797"/>
            <a:ext cx="97853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50165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preprocessing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Feature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Extraction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6398" y="1149708"/>
            <a:ext cx="1000125" cy="288290"/>
            <a:chOff x="2956398" y="1149708"/>
            <a:chExt cx="1000125" cy="288290"/>
          </a:xfrm>
        </p:grpSpPr>
        <p:sp>
          <p:nvSpPr>
            <p:cNvPr id="13" name="object 13"/>
            <p:cNvSpPr/>
            <p:nvPr/>
          </p:nvSpPr>
          <p:spPr>
            <a:xfrm>
              <a:off x="2958938" y="1152248"/>
              <a:ext cx="995044" cy="283210"/>
            </a:xfrm>
            <a:custGeom>
              <a:avLst/>
              <a:gdLst/>
              <a:ahLst/>
              <a:cxnLst/>
              <a:rect l="l" t="t" r="r" b="b"/>
              <a:pathLst>
                <a:path w="995045" h="283209">
                  <a:moveTo>
                    <a:pt x="94442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44422" y="282848"/>
                  </a:lnTo>
                  <a:lnTo>
                    <a:pt x="964122" y="278871"/>
                  </a:lnTo>
                  <a:lnTo>
                    <a:pt x="980209" y="268024"/>
                  </a:lnTo>
                  <a:lnTo>
                    <a:pt x="991056" y="251937"/>
                  </a:lnTo>
                  <a:lnTo>
                    <a:pt x="995033" y="232237"/>
                  </a:lnTo>
                  <a:lnTo>
                    <a:pt x="995033" y="50610"/>
                  </a:lnTo>
                  <a:lnTo>
                    <a:pt x="991056" y="30910"/>
                  </a:lnTo>
                  <a:lnTo>
                    <a:pt x="980209" y="14823"/>
                  </a:lnTo>
                  <a:lnTo>
                    <a:pt x="964122" y="3977"/>
                  </a:lnTo>
                  <a:lnTo>
                    <a:pt x="944422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58938" y="1152248"/>
              <a:ext cx="995044" cy="283210"/>
            </a:xfrm>
            <a:custGeom>
              <a:avLst/>
              <a:gdLst/>
              <a:ahLst/>
              <a:cxnLst/>
              <a:rect l="l" t="t" r="r" b="b"/>
              <a:pathLst>
                <a:path w="995045" h="283209">
                  <a:moveTo>
                    <a:pt x="94442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44422" y="282848"/>
                  </a:lnTo>
                  <a:lnTo>
                    <a:pt x="964122" y="278871"/>
                  </a:lnTo>
                  <a:lnTo>
                    <a:pt x="980209" y="268024"/>
                  </a:lnTo>
                  <a:lnTo>
                    <a:pt x="991056" y="251937"/>
                  </a:lnTo>
                  <a:lnTo>
                    <a:pt x="995033" y="232237"/>
                  </a:lnTo>
                  <a:lnTo>
                    <a:pt x="995033" y="50610"/>
                  </a:lnTo>
                  <a:lnTo>
                    <a:pt x="991056" y="30910"/>
                  </a:lnTo>
                  <a:lnTo>
                    <a:pt x="980209" y="14823"/>
                  </a:lnTo>
                  <a:lnTo>
                    <a:pt x="964122" y="3977"/>
                  </a:lnTo>
                  <a:lnTo>
                    <a:pt x="944422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992399" y="1154797"/>
            <a:ext cx="928369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085" marR="5080" indent="-3302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Detection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threats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Evidence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Fusion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82493" y="1139867"/>
            <a:ext cx="742950" cy="307975"/>
            <a:chOff x="4082493" y="1139867"/>
            <a:chExt cx="742950" cy="307975"/>
          </a:xfrm>
        </p:grpSpPr>
        <p:sp>
          <p:nvSpPr>
            <p:cNvPr id="17" name="object 17"/>
            <p:cNvSpPr/>
            <p:nvPr/>
          </p:nvSpPr>
          <p:spPr>
            <a:xfrm>
              <a:off x="4085033" y="1142407"/>
              <a:ext cx="737870" cy="302895"/>
            </a:xfrm>
            <a:custGeom>
              <a:avLst/>
              <a:gdLst/>
              <a:ahLst/>
              <a:cxnLst/>
              <a:rect l="l" t="t" r="r" b="b"/>
              <a:pathLst>
                <a:path w="737870" h="302894">
                  <a:moveTo>
                    <a:pt x="68704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19"/>
                  </a:lnTo>
                  <a:lnTo>
                    <a:pt x="3977" y="271619"/>
                  </a:lnTo>
                  <a:lnTo>
                    <a:pt x="14823" y="287706"/>
                  </a:lnTo>
                  <a:lnTo>
                    <a:pt x="30910" y="298553"/>
                  </a:lnTo>
                  <a:lnTo>
                    <a:pt x="50610" y="302530"/>
                  </a:lnTo>
                  <a:lnTo>
                    <a:pt x="687041" y="302530"/>
                  </a:lnTo>
                  <a:lnTo>
                    <a:pt x="706741" y="298553"/>
                  </a:lnTo>
                  <a:lnTo>
                    <a:pt x="722828" y="287706"/>
                  </a:lnTo>
                  <a:lnTo>
                    <a:pt x="733675" y="271619"/>
                  </a:lnTo>
                  <a:lnTo>
                    <a:pt x="737652" y="251919"/>
                  </a:lnTo>
                  <a:lnTo>
                    <a:pt x="737652" y="50610"/>
                  </a:lnTo>
                  <a:lnTo>
                    <a:pt x="733675" y="30910"/>
                  </a:lnTo>
                  <a:lnTo>
                    <a:pt x="722828" y="14823"/>
                  </a:lnTo>
                  <a:lnTo>
                    <a:pt x="706741" y="3977"/>
                  </a:lnTo>
                  <a:lnTo>
                    <a:pt x="687041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85033" y="1142407"/>
              <a:ext cx="737870" cy="302895"/>
            </a:xfrm>
            <a:custGeom>
              <a:avLst/>
              <a:gdLst/>
              <a:ahLst/>
              <a:cxnLst/>
              <a:rect l="l" t="t" r="r" b="b"/>
              <a:pathLst>
                <a:path w="737870" h="302894">
                  <a:moveTo>
                    <a:pt x="68704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19"/>
                  </a:lnTo>
                  <a:lnTo>
                    <a:pt x="3977" y="271619"/>
                  </a:lnTo>
                  <a:lnTo>
                    <a:pt x="14823" y="287706"/>
                  </a:lnTo>
                  <a:lnTo>
                    <a:pt x="30910" y="298553"/>
                  </a:lnTo>
                  <a:lnTo>
                    <a:pt x="50610" y="302530"/>
                  </a:lnTo>
                  <a:lnTo>
                    <a:pt x="687041" y="302530"/>
                  </a:lnTo>
                  <a:lnTo>
                    <a:pt x="706741" y="298553"/>
                  </a:lnTo>
                  <a:lnTo>
                    <a:pt x="722828" y="287706"/>
                  </a:lnTo>
                  <a:lnTo>
                    <a:pt x="733675" y="271619"/>
                  </a:lnTo>
                  <a:lnTo>
                    <a:pt x="737652" y="251919"/>
                  </a:lnTo>
                  <a:lnTo>
                    <a:pt x="737652" y="50610"/>
                  </a:lnTo>
                  <a:lnTo>
                    <a:pt x="733675" y="30910"/>
                  </a:lnTo>
                  <a:lnTo>
                    <a:pt x="722828" y="14823"/>
                  </a:lnTo>
                  <a:lnTo>
                    <a:pt x="706741" y="3977"/>
                  </a:lnTo>
                  <a:lnTo>
                    <a:pt x="687041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118470" y="1144954"/>
            <a:ext cx="67119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45085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Risk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Scoring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Explanation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51208" y="1149708"/>
            <a:ext cx="655955" cy="288290"/>
            <a:chOff x="4951208" y="1149708"/>
            <a:chExt cx="655955" cy="288290"/>
          </a:xfrm>
        </p:grpSpPr>
        <p:sp>
          <p:nvSpPr>
            <p:cNvPr id="21" name="object 21"/>
            <p:cNvSpPr/>
            <p:nvPr/>
          </p:nvSpPr>
          <p:spPr>
            <a:xfrm>
              <a:off x="4953748" y="1152248"/>
              <a:ext cx="650875" cy="283210"/>
            </a:xfrm>
            <a:custGeom>
              <a:avLst/>
              <a:gdLst/>
              <a:ahLst/>
              <a:cxnLst/>
              <a:rect l="l" t="t" r="r" b="b"/>
              <a:pathLst>
                <a:path w="650875" h="283209">
                  <a:moveTo>
                    <a:pt x="59987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599877" y="282848"/>
                  </a:lnTo>
                  <a:lnTo>
                    <a:pt x="619577" y="278871"/>
                  </a:lnTo>
                  <a:lnTo>
                    <a:pt x="635664" y="268024"/>
                  </a:lnTo>
                  <a:lnTo>
                    <a:pt x="646510" y="251937"/>
                  </a:lnTo>
                  <a:lnTo>
                    <a:pt x="650488" y="232237"/>
                  </a:lnTo>
                  <a:lnTo>
                    <a:pt x="650488" y="50610"/>
                  </a:lnTo>
                  <a:lnTo>
                    <a:pt x="646510" y="30910"/>
                  </a:lnTo>
                  <a:lnTo>
                    <a:pt x="635664" y="14823"/>
                  </a:lnTo>
                  <a:lnTo>
                    <a:pt x="619577" y="3977"/>
                  </a:lnTo>
                  <a:lnTo>
                    <a:pt x="59987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53748" y="1152248"/>
              <a:ext cx="650875" cy="283210"/>
            </a:xfrm>
            <a:custGeom>
              <a:avLst/>
              <a:gdLst/>
              <a:ahLst/>
              <a:cxnLst/>
              <a:rect l="l" t="t" r="r" b="b"/>
              <a:pathLst>
                <a:path w="650875" h="283209">
                  <a:moveTo>
                    <a:pt x="59987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599877" y="282848"/>
                  </a:lnTo>
                  <a:lnTo>
                    <a:pt x="619577" y="278871"/>
                  </a:lnTo>
                  <a:lnTo>
                    <a:pt x="635664" y="268024"/>
                  </a:lnTo>
                  <a:lnTo>
                    <a:pt x="646510" y="251937"/>
                  </a:lnTo>
                  <a:lnTo>
                    <a:pt x="650488" y="232237"/>
                  </a:lnTo>
                  <a:lnTo>
                    <a:pt x="650488" y="50610"/>
                  </a:lnTo>
                  <a:lnTo>
                    <a:pt x="646510" y="30910"/>
                  </a:lnTo>
                  <a:lnTo>
                    <a:pt x="635664" y="14823"/>
                  </a:lnTo>
                  <a:lnTo>
                    <a:pt x="619577" y="3977"/>
                  </a:lnTo>
                  <a:lnTo>
                    <a:pt x="59987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87175" y="1154797"/>
            <a:ext cx="58356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2400" marR="5080" indent="-140335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Final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Report Result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53979" y="1277173"/>
            <a:ext cx="3281679" cy="33020"/>
            <a:chOff x="1653979" y="1277173"/>
            <a:chExt cx="3281679" cy="33020"/>
          </a:xfrm>
        </p:grpSpPr>
        <p:sp>
          <p:nvSpPr>
            <p:cNvPr id="25" name="object 25"/>
            <p:cNvSpPr/>
            <p:nvPr/>
          </p:nvSpPr>
          <p:spPr>
            <a:xfrm>
              <a:off x="1653979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061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731041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31041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30406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062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0746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0746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956501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 h="0">
                  <a:moveTo>
                    <a:pt x="0" y="0"/>
                  </a:moveTo>
                  <a:lnTo>
                    <a:pt x="77062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33563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033563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25216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 h="0">
                  <a:moveTo>
                    <a:pt x="0" y="0"/>
                  </a:moveTo>
                  <a:lnTo>
                    <a:pt x="77061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0227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0227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21894" y="1692577"/>
            <a:ext cx="2221865" cy="11849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40" b="1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dirty="0" sz="1100" spc="-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314960" marR="40513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preprocessing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1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threats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Fusion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234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Scoring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Explainability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2717" y="1671135"/>
            <a:ext cx="2496185" cy="13671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dirty="0" sz="10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b="1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dirty="0" sz="1000" spc="-30" b="1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dirty="0" sz="10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input(text,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URL,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code,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image)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uploaded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user.</a:t>
            </a:r>
            <a:endParaRPr sz="1000">
              <a:latin typeface="Arial"/>
              <a:cs typeface="Arial"/>
            </a:endParaRPr>
          </a:p>
          <a:p>
            <a:pPr marL="314960" marR="30480" indent="-168275">
              <a:lnSpc>
                <a:spcPct val="100000"/>
              </a:lnSpc>
              <a:spcBef>
                <a:spcPts val="4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5" i="1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extracted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type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 and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merged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analysis.</a:t>
            </a:r>
            <a:endParaRPr sz="1000">
              <a:latin typeface="Arial"/>
              <a:cs typeface="Arial"/>
            </a:endParaRPr>
          </a:p>
          <a:p>
            <a:pPr marL="314960" marR="113664" indent="-168275">
              <a:lnSpc>
                <a:spcPct val="100000"/>
              </a:lnSpc>
              <a:spcBef>
                <a:spcPts val="4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8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predicts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a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70" i="1">
                <a:solidFill>
                  <a:srgbClr val="595959"/>
                </a:solidFill>
                <a:latin typeface="Arial"/>
                <a:cs typeface="Arial"/>
              </a:rPr>
              <a:t>score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along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viable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10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300" y="3012305"/>
            <a:ext cx="3728720" cy="219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005"/>
              </a:lnSpc>
              <a:spcBef>
                <a:spcPts val="95"/>
              </a:spcBef>
            </a:pP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prediction.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525"/>
              </a:lnSpc>
            </a:pP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Department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of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Computer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33768"/>
                </a:solidFill>
                <a:latin typeface="Arial"/>
                <a:cs typeface="Arial"/>
              </a:rPr>
              <a:t>Science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8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Engineering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—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Graphic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Era</a:t>
            </a:r>
            <a:r>
              <a:rPr dirty="0" sz="600" spc="3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(Deemed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to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be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University)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78113" y="3115378"/>
            <a:ext cx="1873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solidFill>
                  <a:srgbClr val="0E294E"/>
                </a:solidFill>
                <a:latin typeface="Arial"/>
                <a:cs typeface="Arial"/>
              </a:rPr>
              <a:t>8/11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Technology</a:t>
            </a:r>
            <a:r>
              <a:rPr dirty="0" spc="20"/>
              <a:t> </a:t>
            </a:r>
            <a:r>
              <a:rPr dirty="0" spc="-10"/>
              <a:t>Stack</a:t>
            </a:r>
            <a:r>
              <a:rPr dirty="0" spc="20"/>
              <a:t> </a:t>
            </a:r>
            <a:r>
              <a:rPr dirty="0" spc="85"/>
              <a:t>&amp;</a:t>
            </a:r>
            <a:r>
              <a:rPr dirty="0" spc="25"/>
              <a:t> </a:t>
            </a:r>
            <a:r>
              <a:rPr dirty="0" spc="-45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085250"/>
            <a:ext cx="1120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Technology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Stack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291958"/>
            <a:ext cx="2520950" cy="1214755"/>
            <a:chOff x="309193" y="1291958"/>
            <a:chExt cx="2520950" cy="12147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9195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36230"/>
              <a:ext cx="2520950" cy="1170305"/>
            </a:xfrm>
            <a:custGeom>
              <a:avLst/>
              <a:gdLst/>
              <a:ahLst/>
              <a:cxnLst/>
              <a:rect l="l" t="t" r="r" b="b"/>
              <a:pathLst>
                <a:path w="2520950" h="1170305">
                  <a:moveTo>
                    <a:pt x="2520810" y="0"/>
                  </a:moveTo>
                  <a:lnTo>
                    <a:pt x="0" y="0"/>
                  </a:lnTo>
                  <a:lnTo>
                    <a:pt x="0" y="1119085"/>
                  </a:lnTo>
                  <a:lnTo>
                    <a:pt x="4008" y="1138810"/>
                  </a:lnTo>
                  <a:lnTo>
                    <a:pt x="14922" y="1154963"/>
                  </a:lnTo>
                  <a:lnTo>
                    <a:pt x="31075" y="1165877"/>
                  </a:lnTo>
                  <a:lnTo>
                    <a:pt x="50800" y="1169885"/>
                  </a:lnTo>
                  <a:lnTo>
                    <a:pt x="2470010" y="1169885"/>
                  </a:lnTo>
                  <a:lnTo>
                    <a:pt x="2489735" y="1165877"/>
                  </a:lnTo>
                  <a:lnTo>
                    <a:pt x="2505888" y="1154963"/>
                  </a:lnTo>
                  <a:lnTo>
                    <a:pt x="2516802" y="1138810"/>
                  </a:lnTo>
                  <a:lnTo>
                    <a:pt x="2520810" y="111908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1957" y="1283103"/>
            <a:ext cx="2270760" cy="11849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Tahoma"/>
                <a:cs typeface="Tahoma"/>
              </a:rPr>
              <a:t>Programming: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9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Database: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SQLite</a:t>
            </a:r>
            <a:endParaRPr sz="1100">
              <a:latin typeface="Arial"/>
              <a:cs typeface="Arial"/>
            </a:endParaRPr>
          </a:p>
          <a:p>
            <a:pPr marL="214629" marR="158750" indent="-177165">
              <a:lnSpc>
                <a:spcPct val="102600"/>
              </a:lnSpc>
              <a:spcBef>
                <a:spcPts val="2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Tools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114">
                <a:latin typeface="Tahoma"/>
                <a:cs typeface="Tahoma"/>
              </a:rPr>
              <a:t>/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Framework: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Scikit-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learn,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OpenCV,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Streamlit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4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IDE: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Jupyter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Notebook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29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Version </a:t>
            </a:r>
            <a:r>
              <a:rPr dirty="0" sz="1100" spc="-10">
                <a:latin typeface="Tahoma"/>
                <a:cs typeface="Tahoma"/>
              </a:rPr>
              <a:t>Control: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Git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8117" y="1085250"/>
            <a:ext cx="1687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Development</a:t>
            </a:r>
            <a:r>
              <a:rPr dirty="0" sz="1200" spc="70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Methodology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291958"/>
            <a:ext cx="2520950" cy="1198880"/>
            <a:chOff x="2930016" y="1291958"/>
            <a:chExt cx="2520950" cy="11988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91958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36232"/>
              <a:ext cx="2520950" cy="1155065"/>
            </a:xfrm>
            <a:custGeom>
              <a:avLst/>
              <a:gdLst/>
              <a:ahLst/>
              <a:cxnLst/>
              <a:rect l="l" t="t" r="r" b="b"/>
              <a:pathLst>
                <a:path w="2520950" h="1155064">
                  <a:moveTo>
                    <a:pt x="2520810" y="0"/>
                  </a:moveTo>
                  <a:lnTo>
                    <a:pt x="0" y="0"/>
                  </a:lnTo>
                  <a:lnTo>
                    <a:pt x="0" y="1103691"/>
                  </a:lnTo>
                  <a:lnTo>
                    <a:pt x="4008" y="1123416"/>
                  </a:lnTo>
                  <a:lnTo>
                    <a:pt x="14922" y="1139569"/>
                  </a:lnTo>
                  <a:lnTo>
                    <a:pt x="31075" y="1150483"/>
                  </a:lnTo>
                  <a:lnTo>
                    <a:pt x="50800" y="1154491"/>
                  </a:lnTo>
                  <a:lnTo>
                    <a:pt x="2470010" y="1154491"/>
                  </a:lnTo>
                  <a:lnTo>
                    <a:pt x="2489735" y="1150483"/>
                  </a:lnTo>
                  <a:lnTo>
                    <a:pt x="2505888" y="1139569"/>
                  </a:lnTo>
                  <a:lnTo>
                    <a:pt x="2516802" y="1123416"/>
                  </a:lnTo>
                  <a:lnTo>
                    <a:pt x="2520810" y="1103691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68180" y="1275382"/>
            <a:ext cx="2190115" cy="11849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25">
                <a:latin typeface="Tahoma"/>
                <a:cs typeface="Tahoma"/>
              </a:rPr>
              <a:t>Analysis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requirements</a:t>
            </a:r>
            <a:endParaRPr sz="1100">
              <a:latin typeface="Tahoma"/>
              <a:cs typeface="Tahoma"/>
            </a:endParaRPr>
          </a:p>
          <a:p>
            <a:pPr marL="189230" marR="610235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AutoNum type="arabicPeriod"/>
              <a:tabLst>
                <a:tab pos="189230" algn="l"/>
              </a:tabLst>
            </a:pP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Collection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&amp;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Data </a:t>
            </a:r>
            <a:r>
              <a:rPr dirty="0" sz="1100" spc="-10">
                <a:latin typeface="Tahoma"/>
                <a:cs typeface="Tahoma"/>
              </a:rPr>
              <a:t>preprocessing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30">
                <a:latin typeface="Tahoma"/>
                <a:cs typeface="Tahoma"/>
              </a:rPr>
              <a:t>System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>
                <a:latin typeface="Tahoma"/>
                <a:cs typeface="Tahoma"/>
              </a:rPr>
              <a:t>Model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Development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&amp;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30">
                <a:latin typeface="Tahoma"/>
                <a:cs typeface="Tahoma"/>
              </a:rPr>
              <a:t>Testing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&amp;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75868" y="2559913"/>
            <a:ext cx="4607560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07235" marR="5080" indent="-1995170">
              <a:lnSpc>
                <a:spcPct val="141100"/>
              </a:lnSpc>
              <a:spcBef>
                <a:spcPts val="100"/>
              </a:spcBef>
            </a:pP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selected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technologies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processing,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z="80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detection,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rapid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prototyping development.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Initial</a:t>
            </a:r>
            <a:r>
              <a:rPr dirty="0" spc="5"/>
              <a:t> </a:t>
            </a:r>
            <a:r>
              <a:rPr dirty="0" spc="-60"/>
              <a:t>Progress</a:t>
            </a:r>
            <a:r>
              <a:rPr dirty="0" spc="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25"/>
              <a:t>Team</a:t>
            </a:r>
            <a:r>
              <a:rPr dirty="0" spc="5"/>
              <a:t> </a:t>
            </a:r>
            <a:r>
              <a:rPr dirty="0" spc="-5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979155"/>
            <a:ext cx="2294255" cy="197421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0" b="1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dirty="0" sz="1100" spc="5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9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Background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study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completed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5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statement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is identified</a:t>
            </a:r>
            <a:endParaRPr sz="1100">
              <a:latin typeface="Arial"/>
              <a:cs typeface="Arial"/>
            </a:endParaRPr>
          </a:p>
          <a:p>
            <a:pPr marL="314960" marR="14351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prepared</a:t>
            </a:r>
            <a:endParaRPr sz="1100">
              <a:latin typeface="Arial"/>
              <a:cs typeface="Arial"/>
            </a:endParaRPr>
          </a:p>
          <a:p>
            <a:pPr marL="314960" marR="264795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Initial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endParaRPr sz="1100">
              <a:latin typeface="Arial"/>
              <a:cs typeface="Arial"/>
            </a:endParaRPr>
          </a:p>
          <a:p>
            <a:pPr marL="314960" marR="106045" indent="-177165">
              <a:lnSpc>
                <a:spcPct val="102699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9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pre-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pipeline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9179" y="1264373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38232" y="1280158"/>
            <a:ext cx="589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Contribution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79179" y="1458226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66479" y="1022932"/>
            <a:ext cx="1477010" cy="596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 b="1">
                <a:solidFill>
                  <a:srgbClr val="133768"/>
                </a:solidFill>
                <a:latin typeface="Tahoma"/>
                <a:cs typeface="Tahoma"/>
              </a:rPr>
              <a:t>Individual</a:t>
            </a:r>
            <a:r>
              <a:rPr dirty="0" sz="1100" spc="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60" b="1">
                <a:solidFill>
                  <a:srgbClr val="133768"/>
                </a:solidFill>
                <a:latin typeface="Tahoma"/>
                <a:cs typeface="Tahoma"/>
              </a:rPr>
              <a:t>Contribution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812165" algn="l"/>
              </a:tabLst>
            </a:pPr>
            <a:r>
              <a:rPr dirty="0" sz="800" spc="-10">
                <a:latin typeface="Arial"/>
                <a:cs typeface="Arial"/>
              </a:rPr>
              <a:t>Member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20">
                <a:latin typeface="Arial"/>
                <a:cs typeface="Arial"/>
              </a:rPr>
              <a:t>Role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812165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Shivansh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195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2512" y="1471928"/>
            <a:ext cx="1181100" cy="8686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217804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800" spc="1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architecture,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ML pipeline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design-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ing</a:t>
            </a:r>
            <a:endParaRPr sz="800">
              <a:latin typeface="Arial"/>
              <a:cs typeface="Arial"/>
            </a:endParaRPr>
          </a:p>
          <a:p>
            <a:pPr algn="just" marL="218440">
              <a:lnSpc>
                <a:spcPts val="905"/>
              </a:lnSpc>
            </a:pPr>
            <a:r>
              <a:rPr dirty="0" sz="800" spc="-45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endParaRPr sz="800">
              <a:latin typeface="Arial"/>
              <a:cs typeface="Arial"/>
            </a:endParaRPr>
          </a:p>
          <a:p>
            <a:pPr algn="just" marL="217804" marR="5080">
              <a:lnSpc>
                <a:spcPts val="950"/>
              </a:lnSpc>
              <a:spcBef>
                <a:spcPts val="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800" spc="4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4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preprocessing</a:t>
            </a:r>
            <a:endParaRPr sz="800">
              <a:latin typeface="Arial"/>
              <a:cs typeface="Arial"/>
            </a:endParaRPr>
          </a:p>
          <a:p>
            <a:pPr algn="just" marL="12700">
              <a:lnSpc>
                <a:spcPts val="915"/>
              </a:lnSpc>
            </a:pPr>
            <a:r>
              <a:rPr dirty="0" sz="800" spc="195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800" spc="330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Background</a:t>
            </a:r>
            <a:r>
              <a:rPr dirty="0" sz="800" spc="1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6479" y="1832532"/>
            <a:ext cx="3282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Ashrey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6382" y="1832532"/>
            <a:ext cx="4711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Developer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6479" y="2193123"/>
            <a:ext cx="4203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Kangana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66200" y="2193123"/>
            <a:ext cx="42100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Testing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8141" y="2313329"/>
            <a:ext cx="9747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9584" algn="l"/>
              </a:tabLst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references,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8141" y="2433534"/>
            <a:ext cx="913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preparation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9179" y="2613685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Roadmap,</a:t>
            </a:r>
            <a:r>
              <a:rPr dirty="0" spc="10"/>
              <a:t> </a:t>
            </a:r>
            <a:r>
              <a:rPr dirty="0" spc="-40"/>
              <a:t>Expected</a:t>
            </a:r>
            <a:r>
              <a:rPr dirty="0" spc="10"/>
              <a:t> </a:t>
            </a:r>
            <a:r>
              <a:rPr dirty="0" spc="-45"/>
              <a:t>Outcomes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75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97178"/>
            <a:ext cx="2366010" cy="993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800" spc="-10" b="1">
                <a:solidFill>
                  <a:srgbClr val="133768"/>
                </a:solidFill>
                <a:latin typeface="Tahoma"/>
                <a:cs typeface="Tahoma"/>
              </a:rPr>
              <a:t>Roadmap</a:t>
            </a:r>
            <a:endParaRPr sz="800">
              <a:latin typeface="Tahoma"/>
              <a:cs typeface="Tahoma"/>
            </a:endParaRPr>
          </a:p>
          <a:p>
            <a:pPr marL="289560" marR="131445" indent="-153035">
              <a:lnSpc>
                <a:spcPts val="950"/>
              </a:lnSpc>
              <a:spcBef>
                <a:spcPts val="32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 spc="-35">
                <a:latin typeface="Arial"/>
                <a:cs typeface="Arial"/>
              </a:rPr>
              <a:t>Phase-</a:t>
            </a:r>
            <a:r>
              <a:rPr dirty="0" sz="800">
                <a:latin typeface="Arial"/>
                <a:cs typeface="Arial"/>
              </a:rPr>
              <a:t>I: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Proposal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Problem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Statement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50">
                <a:latin typeface="Arial"/>
                <a:cs typeface="Arial"/>
              </a:rPr>
              <a:t>&amp; </a:t>
            </a:r>
            <a:r>
              <a:rPr dirty="0" sz="800" spc="-20">
                <a:latin typeface="Arial"/>
                <a:cs typeface="Arial"/>
              </a:rPr>
              <a:t>System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Design</a:t>
            </a:r>
            <a:endParaRPr sz="800">
              <a:latin typeface="Arial"/>
              <a:cs typeface="Arial"/>
            </a:endParaRPr>
          </a:p>
          <a:p>
            <a:pPr marL="289560" marR="86360" indent="-153035">
              <a:lnSpc>
                <a:spcPts val="95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 spc="-35">
                <a:latin typeface="Arial"/>
                <a:cs typeface="Arial"/>
              </a:rPr>
              <a:t>Phase-</a:t>
            </a:r>
            <a:r>
              <a:rPr dirty="0" sz="800">
                <a:latin typeface="Arial"/>
                <a:cs typeface="Arial"/>
              </a:rPr>
              <a:t>II: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Collection,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Pipeline Development</a:t>
            </a:r>
            <a:endParaRPr sz="800">
              <a:latin typeface="Arial"/>
              <a:cs typeface="Arial"/>
            </a:endParaRPr>
          </a:p>
          <a:p>
            <a:pPr marL="289560" marR="5080" indent="-153035">
              <a:lnSpc>
                <a:spcPts val="950"/>
              </a:lnSpc>
              <a:spcBef>
                <a:spcPts val="1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 spc="-35">
                <a:latin typeface="Arial"/>
                <a:cs typeface="Arial"/>
              </a:rPr>
              <a:t>Phase-</a:t>
            </a:r>
            <a:r>
              <a:rPr dirty="0" sz="800">
                <a:latin typeface="Arial"/>
                <a:cs typeface="Arial"/>
              </a:rPr>
              <a:t>III: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Integration,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Training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Testing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50">
                <a:latin typeface="Arial"/>
                <a:cs typeface="Arial"/>
              </a:rPr>
              <a:t>&amp; </a:t>
            </a:r>
            <a:r>
              <a:rPr dirty="0" sz="800">
                <a:latin typeface="Arial"/>
                <a:cs typeface="Arial"/>
              </a:rPr>
              <a:t>Final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Implementation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1894" y="1937080"/>
            <a:ext cx="2423795" cy="111379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dirty="0" sz="800" spc="-40" b="1">
                <a:solidFill>
                  <a:srgbClr val="133768"/>
                </a:solidFill>
                <a:latin typeface="Tahoma"/>
                <a:cs typeface="Tahoma"/>
              </a:rPr>
              <a:t>Expected</a:t>
            </a:r>
            <a:r>
              <a:rPr dirty="0" sz="800" spc="1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133768"/>
                </a:solidFill>
                <a:latin typeface="Tahoma"/>
                <a:cs typeface="Tahoma"/>
              </a:rPr>
              <a:t>Outcomes</a:t>
            </a:r>
            <a:endParaRPr sz="800">
              <a:latin typeface="Tahoma"/>
              <a:cs typeface="Tahoma"/>
            </a:endParaRPr>
          </a:p>
          <a:p>
            <a:pPr algn="just" marL="314960" marR="202565" indent="-148590">
              <a:lnSpc>
                <a:spcPts val="950"/>
              </a:lnSpc>
              <a:spcBef>
                <a:spcPts val="325"/>
              </a:spcBef>
            </a:pPr>
            <a:r>
              <a:rPr dirty="0" baseline="6944" sz="12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944" sz="1200" spc="45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Multimodal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prototype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made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can</a:t>
            </a:r>
            <a:r>
              <a:rPr dirty="0" sz="800">
                <a:latin typeface="Arial"/>
                <a:cs typeface="Arial"/>
              </a:rPr>
              <a:t> detect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classify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scams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according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inputs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user.</a:t>
            </a:r>
            <a:endParaRPr sz="800">
              <a:latin typeface="Arial"/>
              <a:cs typeface="Arial"/>
            </a:endParaRPr>
          </a:p>
          <a:p>
            <a:pPr marL="314960" marR="342265" indent="-148590">
              <a:lnSpc>
                <a:spcPts val="950"/>
              </a:lnSpc>
              <a:spcBef>
                <a:spcPts val="190"/>
              </a:spcBef>
            </a:pPr>
            <a:r>
              <a:rPr dirty="0" baseline="6944" sz="12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944" sz="1200" spc="38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prototype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provides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explainable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risk </a:t>
            </a:r>
            <a:r>
              <a:rPr dirty="0" sz="800" spc="-10">
                <a:latin typeface="Arial"/>
                <a:cs typeface="Arial"/>
              </a:rPr>
              <a:t>scoring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supporting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evidence</a:t>
            </a:r>
            <a:endParaRPr sz="800">
              <a:latin typeface="Arial"/>
              <a:cs typeface="Arial"/>
            </a:endParaRPr>
          </a:p>
          <a:p>
            <a:pPr marL="314960" marR="30480" indent="-148590">
              <a:lnSpc>
                <a:spcPts val="950"/>
              </a:lnSpc>
              <a:spcBef>
                <a:spcPts val="190"/>
              </a:spcBef>
            </a:pPr>
            <a:r>
              <a:rPr dirty="0" baseline="6944" sz="12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944" sz="1200" spc="38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increase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scope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future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scalability </a:t>
            </a:r>
            <a:r>
              <a:rPr dirty="0" sz="800" spc="-30">
                <a:latin typeface="Arial"/>
                <a:cs typeface="Arial"/>
              </a:rPr>
              <a:t>across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scam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types,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detection</a:t>
            </a:r>
            <a:r>
              <a:rPr dirty="0" sz="800" spc="-20">
                <a:latin typeface="Arial"/>
                <a:cs typeface="Arial"/>
              </a:rPr>
              <a:t> models.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8497" y="941595"/>
            <a:ext cx="4000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45" b="1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3570" y="1093984"/>
            <a:ext cx="2240280" cy="88582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175"/>
              </a:spcBef>
              <a:buClr>
                <a:srgbClr val="133768"/>
              </a:buClr>
              <a:buAutoNum type="arabicPeriod"/>
              <a:tabLst>
                <a:tab pos="142875" algn="l"/>
              </a:tabLst>
            </a:pPr>
            <a:r>
              <a:rPr dirty="0" sz="600">
                <a:latin typeface="Arial"/>
                <a:cs typeface="Arial"/>
              </a:rPr>
              <a:t>CERT-In,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“Preventing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Online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Scams,”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2024.</a:t>
            </a:r>
            <a:endParaRPr sz="600">
              <a:latin typeface="Arial"/>
              <a:cs typeface="Arial"/>
            </a:endParaRPr>
          </a:p>
          <a:p>
            <a:pPr marL="142240" marR="70485" indent="-130175">
              <a:lnSpc>
                <a:spcPts val="700"/>
              </a:lnSpc>
              <a:spcBef>
                <a:spcPts val="120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 spc="-10">
                <a:latin typeface="Arial"/>
                <a:cs typeface="Arial"/>
              </a:rPr>
              <a:t>Sahingoz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et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al.,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“Machine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learning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based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phishing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detection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>
                <a:latin typeface="Arial"/>
                <a:cs typeface="Arial"/>
              </a:rPr>
              <a:t>from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URLs,”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Expert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Systems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Applications,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2019.</a:t>
            </a:r>
            <a:endParaRPr sz="600">
              <a:latin typeface="Arial"/>
              <a:cs typeface="Arial"/>
            </a:endParaRPr>
          </a:p>
          <a:p>
            <a:pPr marL="142240" marR="5080" indent="-130175">
              <a:lnSpc>
                <a:spcPts val="700"/>
              </a:lnSpc>
              <a:spcBef>
                <a:spcPts val="90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>
                <a:latin typeface="Arial"/>
                <a:cs typeface="Arial"/>
              </a:rPr>
              <a:t>Trad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Chehab,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“Detecting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Quishing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Attacks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Machine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 spc="-10">
                <a:latin typeface="Arial"/>
                <a:cs typeface="Arial"/>
              </a:rPr>
              <a:t>Learning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Techniques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Through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QR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Code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Analysis,”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2025.</a:t>
            </a:r>
            <a:endParaRPr sz="600">
              <a:latin typeface="Arial"/>
              <a:cs typeface="Arial"/>
            </a:endParaRPr>
          </a:p>
          <a:p>
            <a:pPr marL="142240" marR="66040" indent="-130175">
              <a:lnSpc>
                <a:spcPts val="7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 spc="-25">
                <a:latin typeface="Arial"/>
                <a:cs typeface="Arial"/>
              </a:rPr>
              <a:t>Sharevski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et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al.,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“Gone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Quishing:</a:t>
            </a:r>
            <a:r>
              <a:rPr dirty="0" sz="600" spc="9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Field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Study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Phishing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Malicious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QR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Codes,”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2022.</a:t>
            </a:r>
            <a:endParaRPr sz="600">
              <a:latin typeface="Arial"/>
              <a:cs typeface="Arial"/>
            </a:endParaRPr>
          </a:p>
          <a:p>
            <a:pPr marL="142240" marR="178435" indent="-130175">
              <a:lnSpc>
                <a:spcPts val="7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>
                <a:latin typeface="Arial"/>
                <a:cs typeface="Arial"/>
              </a:rPr>
              <a:t>Anti-Phishing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Working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Group,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“Phishing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Activity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Trends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>
                <a:latin typeface="Arial"/>
                <a:cs typeface="Arial"/>
              </a:rPr>
              <a:t>Report,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1st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Quarter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2026,”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2026.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3803" y="2275141"/>
            <a:ext cx="1924050" cy="339725"/>
          </a:xfrm>
          <a:prstGeom prst="rect">
            <a:avLst/>
          </a:prstGeom>
          <a:solidFill>
            <a:srgbClr val="133768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90"/>
              </a:lnSpc>
            </a:pPr>
            <a:r>
              <a:rPr dirty="0" sz="1000" spc="-25" b="1">
                <a:solidFill>
                  <a:srgbClr val="FFFFFF"/>
                </a:solidFill>
                <a:latin typeface="Tahoma"/>
                <a:cs typeface="Tahoma"/>
              </a:rPr>
              <a:t>Thank You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dirty="0" sz="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1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Suggestions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Project TitleTeam ID: XXXX</dc:creator>
  <dc:title>Project-Based Learning [2mm]Phase-I Evaluation</dc:title>
  <dcterms:created xsi:type="dcterms:W3CDTF">2026-09-08T19:45:08Z</dcterms:created>
  <dcterms:modified xsi:type="dcterms:W3CDTF">2026-09-08T19:45:08Z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2026-09-08T00:00:00Z</vt:filetime>
  </property>
  <property fmtid="{D5CDD505-2E9C-101B-9397-08002B2CF9AE}" pid="5" name="PTEX.Fullbanner">
    <vt:lpwstr>This is pdfTeX, Version 3.141592653-2.6-1.40.29 (TeX Live 2026) kpathsea version 6.4.2</vt:lpwstr>
  </property>
  <property fmtid="{D5CDD505-2E9C-101B-9397-08002B2CF9AE}" pid="6" name="Producer">
    <vt:lpwstr>pdfTeX-1.40.29</vt:lpwstr>
  </property>
</Properties>
</file>